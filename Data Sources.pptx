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57" r:id="rId15"/>
    <p:sldId id="258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85D68D-6757-6FAD-5889-760C910198A3}" v="3" dt="2026-02-11T20:26:07.437"/>
    <p1510:client id="{D9AFC999-0C95-405E-BD93-3B90C660EB9F}" v="349" dt="2026-02-09T21:15:49.383"/>
    <p1510:client id="{E220C0C0-4363-B937-359F-259DA42043E5}" v="4" dt="2026-02-09T21:01:01.9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88C8A-C14D-300E-4FB4-53E78F995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0A1B86-9DE6-BAB8-D3F8-7D3C8030F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A9D18-F872-BD34-D73F-E73121F4E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A85A3-6D1A-405F-968A-96D63809319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7CDD3-55DD-12B1-0BAF-4A26AAF13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F8495-E30E-19E9-C89A-7507C24D0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5226-6AC0-4483-A37B-9B005F05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921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42B99-53D3-BCB2-4C97-FE53BA0CF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E78CC-515C-8F4C-B104-93E9342BD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BD2C1-AF22-6107-D142-852AC692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A85A3-6D1A-405F-968A-96D63809319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97069-DACE-1129-92FE-45C2C8D96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85C22-DB68-BA9D-4C32-129F96D1B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5226-6AC0-4483-A37B-9B005F05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493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99D6F-BC09-F381-1035-1E0A0F8BA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23A1D-1DEC-63C8-994A-16133B637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D351B-9D88-03AF-6142-DDCAA5F5F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A85A3-6D1A-405F-968A-96D63809319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556E0-431A-C206-C306-9175D6209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13C59-5CFA-FD58-28D7-966F9E3FF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5226-6AC0-4483-A37B-9B005F05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890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9CC3F-4AAD-4919-9E20-7B4064767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D21AC-EE14-7F8A-7BE7-0EE908733A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5370D-42FB-A13B-BCD1-289297697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46AC5-D32C-C6FE-7FC8-16DB8919F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A85A3-6D1A-405F-968A-96D63809319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F4828-7788-0131-C3AF-4B24C02BA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10181-718E-C43F-9678-415A8190C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5226-6AC0-4483-A37B-9B005F05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80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13FF6-F615-E1EC-8FB8-E6D392E11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9A9A0-016B-7B79-EC93-74BB2573E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7A9214-1D77-B41B-60FB-1721CDD57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0EC5D-A03D-72C3-07AD-467F09C62A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E5C611-F2CE-10A0-9C33-57D10E6B76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1CF883-4E42-EFE3-D1EC-9BFBDD3B6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A85A3-6D1A-405F-968A-96D63809319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74CD37-D33A-3BEF-A112-75BDE5F6C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01FA2E-F0B1-5A42-84E5-730E45460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5226-6AC0-4483-A37B-9B005F05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57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FC404-26CA-927F-FD8A-701165E9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5F1C06-3AA1-D14C-71BF-C6E2993F6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A85A3-6D1A-405F-968A-96D63809319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6DBEB-78B5-1FE3-646D-EE2E734C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8372EE-F6D2-51A4-1B39-45109B9B0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5226-6AC0-4483-A37B-9B005F05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10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10016E-7990-3896-AC9E-2CD5A818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A85A3-6D1A-405F-968A-96D63809319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759EF-4EE0-7790-EE4C-9664F6EB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A7EC7-EC65-0803-C059-91078CF62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5226-6AC0-4483-A37B-9B005F05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25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35552-2370-B449-61AA-D129A01A3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D1E18-479C-F285-4F41-151001A94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670E5-63D7-47C2-3B37-9C5FD450B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6B259-63DD-F5DE-4D79-B262F0406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A85A3-6D1A-405F-968A-96D63809319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209F5-D17D-7941-4CA3-D28022B4F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2E3CF-AE7A-99A0-3BB2-CE28CD031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5226-6AC0-4483-A37B-9B005F05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003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C2CA-BF02-3C51-EA56-9BE1A33F7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F46CF4-F81D-9DD3-EE62-9B807293AD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A81D9-1A3D-CB7A-1B86-A2E257A6F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DC4C4-2E37-830C-E92D-879FAEC86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A85A3-6D1A-405F-968A-96D63809319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C5E23-0D45-7862-7190-6A848FE71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58AA9-7587-BE64-2FC2-C3660F6A6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5226-6AC0-4483-A37B-9B005F05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222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7C76A-A88D-2C24-7790-FB539E555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DB880E-97FA-F279-0884-6B4FE3870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EB51B-E572-F11D-4176-751A3AD35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A85A3-6D1A-405F-968A-96D63809319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02C6E-B4E4-2C6F-A91F-A350FEA9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C4F6E-BE6F-81EC-E5A2-5B6AC185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5226-6AC0-4483-A37B-9B005F05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105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A13517-17F4-392C-5167-FCA2F5FAEF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F41CE-FDFA-5A12-A552-8C191B1D8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895B0-7D78-0DB4-ED82-E55E380BE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A85A3-6D1A-405F-968A-96D63809319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B8759-BC51-7847-5BB7-468FCD74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61F20-ABB3-8C9A-9BC5-7DC93CB66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A5226-6AC0-4483-A37B-9B005F05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7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207CAE-98BB-60CD-E1E1-62F1BF2E7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0ED39-B90D-CA8B-27EB-40C150474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34680-2C88-7BE0-5C5B-2EC8294953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A85A3-6D1A-405F-968A-96D63809319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24B19-6CDE-1652-257C-0E9F6AC21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3B829-E6D2-57B4-A716-7FB2D76BBA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6A5226-6AC0-4483-A37B-9B005F05E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225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dc.gov/overdose-prevention/data-research/facts-stats/sudors-dashboard-fatal-overdose-data.html" TargetMode="External"/><Relationship Id="rId2" Type="http://schemas.openxmlformats.org/officeDocument/2006/relationships/hyperlink" Target="https://www.in.gov/health/oda/hospital-discharge-dat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genstrief.org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courts.in.gov/mycase/#/vw/Search" TargetMode="External"/><Relationship Id="rId2" Type="http://schemas.openxmlformats.org/officeDocument/2006/relationships/hyperlink" Target="https://in.accessgov.com/idoi-apr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.gov/mph/projects/substance-use-data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oosierdata.in.gov/data-request.asp#form" TargetMode="External"/><Relationship Id="rId2" Type="http://schemas.openxmlformats.org/officeDocument/2006/relationships/hyperlink" Target="https://www.in.gov/dcs/child-suppor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5BB81-DCC1-1448-F654-F01629B54F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Dove Recovery House Project – Meeting 1 Notes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A82D58-B37A-3532-8639-0C41194F74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Damir Cavar</a:t>
            </a:r>
          </a:p>
          <a:p>
            <a:r>
              <a:rPr lang="en-US"/>
              <a:t>February 2026</a:t>
            </a:r>
          </a:p>
        </p:txBody>
      </p:sp>
    </p:spTree>
    <p:extLst>
      <p:ext uri="{BB962C8B-B14F-4D97-AF65-F5344CB8AC3E}">
        <p14:creationId xmlns:p14="http://schemas.microsoft.com/office/powerpoint/2010/main" val="1731036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B9BCF-2254-7CF2-0694-B21F2D389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07ED2-7D0A-F689-EB70-CDB9500C0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Higher Regional Risks</a:t>
            </a:r>
          </a:p>
          <a:p>
            <a:pPr lvl="1"/>
            <a:r>
              <a:rPr lang="en-US"/>
              <a:t>Economic Instability and Housing Market Stress – homelessness risk</a:t>
            </a:r>
          </a:p>
          <a:p>
            <a:pPr lvl="2"/>
            <a:r>
              <a:rPr lang="en-US"/>
              <a:t>High rent‑to‑income ratios (e.g., &gt;30% of median income)</a:t>
            </a:r>
          </a:p>
          <a:p>
            <a:pPr lvl="2"/>
            <a:r>
              <a:rPr lang="en-US"/>
              <a:t>Low availability of affordable housing or long waitlists for vouchers</a:t>
            </a:r>
          </a:p>
          <a:p>
            <a:pPr lvl="2"/>
            <a:r>
              <a:rPr lang="en-US"/>
              <a:t>High eviction rates, particularly in counties with weak tenant protections</a:t>
            </a:r>
          </a:p>
          <a:p>
            <a:pPr lvl="2"/>
            <a:r>
              <a:rPr lang="en-US"/>
              <a:t>High unemployment or underemployment, especially in service-sector jobs where women are overrepresented</a:t>
            </a:r>
          </a:p>
          <a:p>
            <a:pPr lvl="2"/>
            <a:r>
              <a:rPr lang="en-US"/>
              <a:t>Concentrated poverty and limited economic mobility</a:t>
            </a:r>
          </a:p>
          <a:p>
            <a:pPr lvl="2"/>
            <a:r>
              <a:rPr lang="en-US"/>
              <a:t>Depend on family members, migrating family members</a:t>
            </a:r>
          </a:p>
          <a:p>
            <a:pPr lvl="1"/>
            <a:r>
              <a:rPr lang="en-US"/>
              <a:t>Women are more likely to be single parents, so economic shocks translate more quickly into housing loss</a:t>
            </a:r>
          </a:p>
        </p:txBody>
      </p:sp>
    </p:spTree>
    <p:extLst>
      <p:ext uri="{BB962C8B-B14F-4D97-AF65-F5344CB8AC3E}">
        <p14:creationId xmlns:p14="http://schemas.microsoft.com/office/powerpoint/2010/main" val="4162247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1E338-8DD7-6851-9397-1D063A2E6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23D0C-90CC-23DD-016B-A344BCB27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Higher Regional Risks</a:t>
            </a:r>
          </a:p>
          <a:p>
            <a:pPr lvl="1"/>
            <a:r>
              <a:rPr lang="en-US" dirty="0"/>
              <a:t>Limited Access to Social and Health Services</a:t>
            </a:r>
          </a:p>
          <a:p>
            <a:pPr lvl="2"/>
            <a:r>
              <a:rPr lang="en-US" dirty="0"/>
              <a:t>Few or no women‑specific shelters</a:t>
            </a:r>
          </a:p>
          <a:p>
            <a:pPr lvl="2"/>
            <a:r>
              <a:rPr lang="en-US" dirty="0"/>
              <a:t>Limited access to mental health care</a:t>
            </a:r>
          </a:p>
          <a:p>
            <a:pPr lvl="3"/>
            <a:r>
              <a:rPr lang="en-US" dirty="0"/>
              <a:t>Suicide rate</a:t>
            </a:r>
          </a:p>
          <a:p>
            <a:pPr lvl="2"/>
            <a:r>
              <a:rPr lang="en-US" dirty="0"/>
              <a:t>Lack of trauma‑informed substance use treatment programs</a:t>
            </a:r>
          </a:p>
          <a:p>
            <a:pPr lvl="2"/>
            <a:r>
              <a:rPr lang="en-US" dirty="0"/>
              <a:t>Low density of domestic violence shelters</a:t>
            </a:r>
          </a:p>
          <a:p>
            <a:pPr lvl="2"/>
            <a:r>
              <a:rPr lang="en-US" dirty="0"/>
              <a:t>Poor access to reproductive health services</a:t>
            </a:r>
          </a:p>
          <a:p>
            <a:pPr lvl="2"/>
            <a:r>
              <a:rPr lang="en-US" dirty="0"/>
              <a:t>Rate of people without health coverage</a:t>
            </a:r>
          </a:p>
          <a:p>
            <a:pPr lvl="2"/>
            <a:r>
              <a:rPr lang="en-US" dirty="0"/>
              <a:t>Prescriptions of medications (by region and provider status) for treating alcohol and opioid withdrawals </a:t>
            </a:r>
          </a:p>
          <a:p>
            <a:pPr lvl="1"/>
            <a:r>
              <a:rPr lang="en-US" dirty="0"/>
              <a:t>Women often face gender‑specific barriers, childcare, safety concerns, stigma, that general services don’t address.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14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2ABD6-B9A5-062F-B3EA-F4292473D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65E60-6524-5F48-031D-C593382A3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Higher Regional Risks</a:t>
            </a:r>
          </a:p>
          <a:p>
            <a:pPr lvl="1"/>
            <a:r>
              <a:rPr lang="en-US"/>
              <a:t>High Rates of Gender‑Based Violence</a:t>
            </a:r>
          </a:p>
          <a:p>
            <a:pPr lvl="2"/>
            <a:r>
              <a:rPr lang="en-US"/>
              <a:t>High rates of intimate partner violence (IPV)</a:t>
            </a:r>
          </a:p>
          <a:p>
            <a:pPr lvl="2"/>
            <a:r>
              <a:rPr lang="en-US"/>
              <a:t>Weak legal protections or low enforcement of restraining orders</a:t>
            </a:r>
          </a:p>
          <a:p>
            <a:pPr lvl="2"/>
            <a:r>
              <a:rPr lang="en-US"/>
              <a:t>Few safe‑housing options for survivors</a:t>
            </a:r>
          </a:p>
          <a:p>
            <a:pPr lvl="2"/>
            <a:r>
              <a:rPr lang="en-US"/>
              <a:t>High rates of sexual assault</a:t>
            </a:r>
          </a:p>
          <a:p>
            <a:pPr lvl="3"/>
            <a:r>
              <a:rPr lang="en-US"/>
              <a:t>From professionals, people in power</a:t>
            </a:r>
          </a:p>
          <a:p>
            <a:pPr lvl="2"/>
            <a:r>
              <a:rPr lang="en-US"/>
              <a:t>Sex-work</a:t>
            </a:r>
          </a:p>
          <a:p>
            <a:pPr lvl="1"/>
            <a:r>
              <a:rPr lang="en-US"/>
              <a:t>IPV is one of the leading causes of homelessness for women and a major driver of substance use as a coping mechanism.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A3F3E-2A48-8753-36CD-A96792674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A7865-1120-6D5B-B038-AF34DE52C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Higher Regional Risks</a:t>
            </a:r>
          </a:p>
          <a:p>
            <a:pPr lvl="1"/>
            <a:r>
              <a:rPr lang="en-US" dirty="0"/>
              <a:t>Community‑Level Substance Use Indicators</a:t>
            </a:r>
          </a:p>
          <a:p>
            <a:pPr lvl="2"/>
            <a:r>
              <a:rPr lang="en-US" dirty="0"/>
              <a:t>High overdose rates</a:t>
            </a:r>
          </a:p>
          <a:p>
            <a:pPr lvl="2"/>
            <a:r>
              <a:rPr lang="en-US" dirty="0"/>
              <a:t>High prevalence of methamphetamine, opioids, or polysubstance use</a:t>
            </a:r>
          </a:p>
          <a:p>
            <a:pPr lvl="2"/>
            <a:r>
              <a:rPr lang="en-US" dirty="0"/>
              <a:t>Alcoholism, more than half alcohol related</a:t>
            </a:r>
          </a:p>
          <a:p>
            <a:pPr lvl="2"/>
            <a:r>
              <a:rPr lang="en-US" dirty="0"/>
              <a:t>Poly-substance use</a:t>
            </a:r>
          </a:p>
          <a:p>
            <a:pPr lvl="2"/>
            <a:r>
              <a:rPr lang="en-US" dirty="0"/>
              <a:t>Limited availability of medication‑assisted treatment (MAT)</a:t>
            </a:r>
          </a:p>
          <a:p>
            <a:pPr lvl="2"/>
            <a:r>
              <a:rPr lang="en-US" dirty="0"/>
              <a:t>High density of liquor stores or permissive alcohol environments</a:t>
            </a:r>
          </a:p>
          <a:p>
            <a:pPr lvl="1"/>
            <a:r>
              <a:rPr lang="en-US" dirty="0"/>
              <a:t>Substance use risk increases when treatment is scarce and exposure is high.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814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8D027-9EB7-2B26-1933-8CD18879B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94E19-13B8-DCF4-50CC-0547380F6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Higher Regional Risks</a:t>
            </a:r>
          </a:p>
          <a:p>
            <a:pPr lvl="1"/>
            <a:r>
              <a:rPr lang="en-US"/>
              <a:t>Structural Inequities and Social Marginalization</a:t>
            </a:r>
          </a:p>
          <a:p>
            <a:pPr lvl="2"/>
            <a:r>
              <a:rPr lang="en-US"/>
              <a:t>High rates of discrimination in employment or rental markets</a:t>
            </a:r>
          </a:p>
          <a:p>
            <a:pPr lvl="2"/>
            <a:r>
              <a:rPr lang="en-US"/>
              <a:t>High incarceration rates for women (often tied to drug‑related charges)</a:t>
            </a:r>
          </a:p>
          <a:p>
            <a:pPr lvl="2"/>
            <a:r>
              <a:rPr lang="en-US"/>
              <a:t>Effects of socio-political environment</a:t>
            </a:r>
          </a:p>
          <a:p>
            <a:pPr lvl="2"/>
            <a:r>
              <a:rPr lang="en-US"/>
              <a:t>Race and ethnicity data in Indiana</a:t>
            </a:r>
          </a:p>
          <a:p>
            <a:pPr lvl="1"/>
            <a:r>
              <a:rPr lang="en-US"/>
              <a:t>Marginalized women face more barriers to stable housing and treatment.</a:t>
            </a:r>
          </a:p>
        </p:txBody>
      </p:sp>
    </p:spTree>
    <p:extLst>
      <p:ext uri="{BB962C8B-B14F-4D97-AF65-F5344CB8AC3E}">
        <p14:creationId xmlns:p14="http://schemas.microsoft.com/office/powerpoint/2010/main" val="3008009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D6B8E-6129-A40D-7B10-E2ACD94EE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D53DF-31E6-3934-6F32-2746669F8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Higher Regional Risks</a:t>
            </a:r>
          </a:p>
          <a:p>
            <a:pPr lvl="1"/>
            <a:r>
              <a:rPr lang="en-US"/>
              <a:t>Rural vs. Urban Service Gaps</a:t>
            </a:r>
          </a:p>
          <a:p>
            <a:pPr lvl="2"/>
            <a:r>
              <a:rPr lang="en-US"/>
              <a:t>Urban risk factors</a:t>
            </a:r>
          </a:p>
          <a:p>
            <a:pPr lvl="3"/>
            <a:r>
              <a:rPr lang="en-US"/>
              <a:t>Overcrowded shelters</a:t>
            </a:r>
          </a:p>
          <a:p>
            <a:pPr lvl="3"/>
            <a:r>
              <a:rPr lang="en-US"/>
              <a:t>High cost of living</a:t>
            </a:r>
          </a:p>
          <a:p>
            <a:pPr lvl="3"/>
            <a:r>
              <a:rPr lang="en-US"/>
              <a:t>Open‑air drug markets</a:t>
            </a:r>
          </a:p>
          <a:p>
            <a:pPr lvl="3"/>
            <a:r>
              <a:rPr lang="en-US"/>
              <a:t>High policing intensity</a:t>
            </a:r>
          </a:p>
          <a:p>
            <a:pPr lvl="2"/>
            <a:r>
              <a:rPr lang="en-US"/>
              <a:t>Rural risk factors</a:t>
            </a:r>
          </a:p>
          <a:p>
            <a:pPr lvl="3"/>
            <a:r>
              <a:rPr lang="en-US"/>
              <a:t>Almost no shelters</a:t>
            </a:r>
          </a:p>
          <a:p>
            <a:pPr lvl="3"/>
            <a:r>
              <a:rPr lang="en-US"/>
              <a:t>Long travel distances to treatment</a:t>
            </a:r>
          </a:p>
          <a:p>
            <a:pPr lvl="3"/>
            <a:r>
              <a:rPr lang="en-US"/>
              <a:t>Higher stigma and social isolation</a:t>
            </a:r>
          </a:p>
          <a:p>
            <a:pPr lvl="3"/>
            <a:r>
              <a:rPr lang="en-US"/>
              <a:t>Limited public transportation</a:t>
            </a:r>
          </a:p>
          <a:p>
            <a:pPr lvl="1"/>
            <a:r>
              <a:rPr lang="en-US"/>
              <a:t>Rural women often have no services; urban women often have unsafe or inaccessible services.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05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ABC01-32FB-849F-95E2-A5402C8DD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9A523-F4A0-E837-15E7-5C7B86384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Childcare and Family Policy Environment</a:t>
            </a:r>
          </a:p>
          <a:p>
            <a:pPr lvl="1"/>
            <a:r>
              <a:rPr lang="en-US"/>
              <a:t>Women with children face unique vulnerabilities.</a:t>
            </a:r>
          </a:p>
          <a:p>
            <a:pPr lvl="2"/>
            <a:r>
              <a:rPr lang="en-US"/>
              <a:t>Strict shelter rules that exclude teenage sons</a:t>
            </a:r>
          </a:p>
          <a:p>
            <a:pPr lvl="2"/>
            <a:r>
              <a:rPr lang="en-US"/>
              <a:t>Lack of childcare for treatment programs</a:t>
            </a:r>
          </a:p>
          <a:p>
            <a:pPr lvl="2"/>
            <a:r>
              <a:rPr lang="en-US"/>
              <a:t>High rates of child welfare involvement</a:t>
            </a:r>
          </a:p>
          <a:p>
            <a:pPr lvl="2"/>
            <a:r>
              <a:rPr lang="en-US"/>
              <a:t>Punitive policies toward substance‑using mothers</a:t>
            </a:r>
          </a:p>
          <a:p>
            <a:pPr lvl="1"/>
            <a:r>
              <a:rPr lang="en-US"/>
              <a:t>Teenage pregnancies</a:t>
            </a:r>
          </a:p>
          <a:p>
            <a:pPr lvl="1"/>
            <a:r>
              <a:rPr lang="en-US"/>
              <a:t>Child services cases</a:t>
            </a:r>
          </a:p>
          <a:p>
            <a:pPr lvl="1"/>
            <a:r>
              <a:rPr lang="en-US"/>
              <a:t>Fear of losing custody often prevents women from seeking help.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95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760BB-43A0-E14E-80D3-FD4B356B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0AB22-3BBC-9EBA-1E2F-78EFE82F7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Multiple indicators:</a:t>
            </a:r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E14CB0-1017-6AD9-AAF2-9CDFEDA58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670547"/>
              </p:ext>
            </p:extLst>
          </p:nvPr>
        </p:nvGraphicFramePr>
        <p:xfrm>
          <a:off x="1159163" y="2465338"/>
          <a:ext cx="9713884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6942">
                  <a:extLst>
                    <a:ext uri="{9D8B030D-6E8A-4147-A177-3AD203B41FA5}">
                      <a16:colId xmlns:a16="http://schemas.microsoft.com/office/drawing/2014/main" val="3474982055"/>
                    </a:ext>
                  </a:extLst>
                </a:gridCol>
                <a:gridCol w="4856942">
                  <a:extLst>
                    <a:ext uri="{9D8B030D-6E8A-4147-A177-3AD203B41FA5}">
                      <a16:colId xmlns:a16="http://schemas.microsoft.com/office/drawing/2014/main" val="2169651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High-Risk Indicators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489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Economic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High rent burden, high eviction rates, low wages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269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Housing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Few shelters, long waitlists, unsafe shelter conditions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016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Health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Limited MAT, few women‑specific programs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852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High IPV rates, few DV shelters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724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Social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Social disparities, exclusion of minorities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865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Geography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Rural isolation or urban cost pressures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726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Punitive child welfare or criminalization of substance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313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443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D4697-D952-E9AF-4307-8A05EB6C2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Localization of Women’s Shelters in Indiana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C6CCA-42E0-F4B3-632F-D7A6C0D29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See “Relevant information” document in Teams…</a:t>
            </a:r>
          </a:p>
        </p:txBody>
      </p:sp>
    </p:spTree>
    <p:extLst>
      <p:ext uri="{BB962C8B-B14F-4D97-AF65-F5344CB8AC3E}">
        <p14:creationId xmlns:p14="http://schemas.microsoft.com/office/powerpoint/2010/main" val="2708476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1188F-0A2C-9DF3-06C2-BEADA73F0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59E75-3C89-72F4-08F5-96CEAA424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Publicly available data:</a:t>
            </a:r>
          </a:p>
          <a:p>
            <a:pPr lvl="1"/>
            <a:r>
              <a:rPr lang="en-US"/>
              <a:t>For research, reporting, and trends without personal identifiers</a:t>
            </a:r>
          </a:p>
          <a:p>
            <a:pPr lvl="1"/>
            <a:r>
              <a:rPr lang="en-US"/>
              <a:t>Indiana Department of Health (IDOH) Discharge Data: Provides inpatient/outpatient data files and Excel lookup tables.</a:t>
            </a:r>
          </a:p>
          <a:p>
            <a:pPr lvl="2"/>
            <a:r>
              <a:rPr lang="en-US">
                <a:hlinkClick r:id="rId2"/>
              </a:rPr>
              <a:t>https://www.in.gov/health/oda/hospital-discharge-data/</a:t>
            </a:r>
            <a:r>
              <a:rPr lang="en-US"/>
              <a:t> </a:t>
            </a:r>
          </a:p>
          <a:p>
            <a:pPr lvl="1"/>
            <a:r>
              <a:rPr lang="en-US"/>
              <a:t>Drug Overdose Data Dashboards: Next Level Recovery and IDOH offer county-level data, fatal overdose touchpoints, and prevention program metrics.</a:t>
            </a:r>
          </a:p>
          <a:p>
            <a:pPr lvl="2"/>
            <a:r>
              <a:rPr lang="en-US">
                <a:hlinkClick r:id="rId3"/>
              </a:rPr>
              <a:t>https://www.cdc.gov/overdose-prevention/data-research/facts-stats/sudors-dashboard-fatal-overdose-data.html</a:t>
            </a:r>
            <a:r>
              <a:rPr lang="en-US"/>
              <a:t> </a:t>
            </a:r>
          </a:p>
          <a:p>
            <a:pPr lvl="1"/>
            <a:r>
              <a:rPr lang="en-US"/>
              <a:t>Regenstrief Institute: Stores clinical data repositories, including the Indiana Network for Patient Care, available for collaborators.</a:t>
            </a:r>
          </a:p>
          <a:p>
            <a:pPr lvl="2"/>
            <a:r>
              <a:rPr lang="en-US">
                <a:hlinkClick r:id="rId4"/>
              </a:rPr>
              <a:t>https://www.regenstrief.org/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35237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8E140-96AB-C905-71B3-B3038537D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881C4-4058-73A0-C83B-C1DAEF4ED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Indiana APRA Portal (IDOH): For formal public record requests.</a:t>
            </a:r>
          </a:p>
          <a:p>
            <a:pPr lvl="1"/>
            <a:r>
              <a:rPr lang="en-US">
                <a:hlinkClick r:id="rId2"/>
              </a:rPr>
              <a:t>https://in.accessgov.com/idoi-apra</a:t>
            </a:r>
            <a:r>
              <a:rPr lang="en-US"/>
              <a:t> </a:t>
            </a:r>
          </a:p>
          <a:p>
            <a:r>
              <a:rPr lang="en-US"/>
              <a:t>MyCase.in.gov: For public, non-confidential court-related documents.</a:t>
            </a:r>
          </a:p>
          <a:p>
            <a:pPr lvl="1"/>
            <a:r>
              <a:rPr lang="en-US">
                <a:hlinkClick r:id="rId3"/>
              </a:rPr>
              <a:t>https://public.courts.in.gov/mycase/#/vw/Search</a:t>
            </a:r>
            <a:r>
              <a:rPr lang="en-US"/>
              <a:t> </a:t>
            </a:r>
          </a:p>
          <a:p>
            <a:r>
              <a:rPr lang="en-US"/>
              <a:t>Indiana Management Performance Hub (MPH)</a:t>
            </a:r>
          </a:p>
          <a:p>
            <a:pPr lvl="1"/>
            <a:r>
              <a:rPr lang="en-US">
                <a:hlinkClick r:id="rId4"/>
              </a:rPr>
              <a:t>https://www.in.gov/mph/projects/substance-use-data/</a:t>
            </a:r>
            <a:r>
              <a:rPr lang="en-US"/>
              <a:t>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857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8F411-6A27-D96B-797F-0500EF4BD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6D063-2B11-4581-C0E0-7C6CBB72F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Indiana Department of Child Services</a:t>
            </a:r>
          </a:p>
          <a:p>
            <a:pPr lvl="1"/>
            <a:r>
              <a:rPr lang="en-US">
                <a:hlinkClick r:id="rId2"/>
              </a:rPr>
              <a:t>https://www.in.gov/dcs/child-support/</a:t>
            </a:r>
            <a:endParaRPr lang="en-US"/>
          </a:p>
          <a:p>
            <a:r>
              <a:rPr lang="en-US"/>
              <a:t>Hoosier by Numbers</a:t>
            </a:r>
          </a:p>
          <a:p>
            <a:pPr lvl="1"/>
            <a:r>
              <a:rPr lang="en-US">
                <a:hlinkClick r:id="rId3"/>
              </a:rPr>
              <a:t>https://www.hoosierdata.in.gov/data-request.asp#form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3913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7739390373774785CAD8022EC207D5" ma:contentTypeVersion="17" ma:contentTypeDescription="Create a new document." ma:contentTypeScope="" ma:versionID="d2d737eda92424e171f51452656bb1b3">
  <xsd:schema xmlns:xsd="http://www.w3.org/2001/XMLSchema" xmlns:xs="http://www.w3.org/2001/XMLSchema" xmlns:p="http://schemas.microsoft.com/office/2006/metadata/properties" xmlns:ns2="a2943bde-084e-4712-830f-d9c89c4b0d4a" xmlns:ns3="7edc68f4-cbbb-4f6e-838e-7eac224f88f2" targetNamespace="http://schemas.microsoft.com/office/2006/metadata/properties" ma:root="true" ma:fieldsID="7a6c08630e7cf2320b9996c07065f18a" ns2:_="" ns3:_="">
    <xsd:import namespace="a2943bde-084e-4712-830f-d9c89c4b0d4a"/>
    <xsd:import namespace="7edc68f4-cbbb-4f6e-838e-7eac224f88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943bde-084e-4712-830f-d9c89c4b0d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0eec0a79-46cb-4568-9b1b-2d720bd320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3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dc68f4-cbbb-4f6e-838e-7eac224f88f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c54cdb1-0308-47aa-ac70-f527b089c95b}" ma:internalName="TaxCatchAll" ma:showField="CatchAllData" ma:web="7edc68f4-cbbb-4f6e-838e-7eac224f88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2943bde-084e-4712-830f-d9c89c4b0d4a">
      <Terms xmlns="http://schemas.microsoft.com/office/infopath/2007/PartnerControls"/>
    </lcf76f155ced4ddcb4097134ff3c332f>
    <TaxCatchAll xmlns="7edc68f4-cbbb-4f6e-838e-7eac224f88f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010A74-19F2-4911-BEC3-B70E98B8D8E7}">
  <ds:schemaRefs>
    <ds:schemaRef ds:uri="7edc68f4-cbbb-4f6e-838e-7eac224f88f2"/>
    <ds:schemaRef ds:uri="a2943bde-084e-4712-830f-d9c89c4b0d4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224C088-7842-41E0-9FC5-40E4DA3D534F}">
  <ds:schemaRefs>
    <ds:schemaRef ds:uri="7edc68f4-cbbb-4f6e-838e-7eac224f88f2"/>
    <ds:schemaRef ds:uri="a2943bde-084e-4712-830f-d9c89c4b0d4a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8543077-FA94-43C0-A883-FA0A91A0991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Dove Recovery House Project – Meeting 1 Notes</vt:lpstr>
      <vt:lpstr>Criteria</vt:lpstr>
      <vt:lpstr>Criteria</vt:lpstr>
      <vt:lpstr>Criteria</vt:lpstr>
      <vt:lpstr>Criteria</vt:lpstr>
      <vt:lpstr>Criteria</vt:lpstr>
      <vt:lpstr>Criteria</vt:lpstr>
      <vt:lpstr>Criteria</vt:lpstr>
      <vt:lpstr>Summary</vt:lpstr>
      <vt:lpstr>Localization of Women’s Shelters in Indiana</vt:lpstr>
      <vt:lpstr>Data Sources</vt:lpstr>
      <vt:lpstr>Data Sources</vt:lpstr>
      <vt:lpstr>Data 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Cavar, Damir</dc:creator>
  <cp:revision>5</cp:revision>
  <dcterms:created xsi:type="dcterms:W3CDTF">2026-02-09T17:04:22Z</dcterms:created>
  <dcterms:modified xsi:type="dcterms:W3CDTF">2026-04-08T22:04:40Z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0x010100ED7739390373774785CAD8022EC207D5</vt:lpwstr>
  </property>
  <property fmtid="{D5CDD505-2E9C-101B-9397-08002B2CF9AE}" pid="3" name="MediaServiceImageTags">
    <vt:lpwstr/>
  </property>
</Properties>
</file>